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369" r:id="rId13"/>
    <p:sldId id="267" r:id="rId26"/>
    <p:sldId id="374" r:id="rId18"/>
    <p:sldId id="262" r:id="rId21"/>
    <p:sldId id="269" r:id="rId27"/>
    <p:sldId id="270" r:id="rId28"/>
    <p:sldId id="266" r:id="rId23"/>
    <p:sldId id="263" r:id="rId22"/>
    <p:sldId id="264" r:id="rId24"/>
    <p:sldId id="370" r:id="rId16"/>
    <p:sldId id="372" r:id="rId14"/>
    <p:sldId id="371" r:id="rId17"/>
    <p:sldId id="261" r:id="rId20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9.xml"/><Relationship Id="rId20" Type="http://schemas.openxmlformats.org/officeDocument/2006/relationships/slide" Target="slides/slide19.xml"/><Relationship Id="rId21" Type="http://schemas.openxmlformats.org/officeDocument/2006/relationships/slide" Target="slides/slide10.xml"/><Relationship Id="rId22" Type="http://schemas.openxmlformats.org/officeDocument/2006/relationships/slide" Target="slides/slide14.xml"/><Relationship Id="rId23" Type="http://schemas.openxmlformats.org/officeDocument/2006/relationships/slide" Target="slides/slide13.xml"/><Relationship Id="rId24" Type="http://schemas.openxmlformats.org/officeDocument/2006/relationships/slide" Target="slides/slide15.xml"/><Relationship Id="rId25" Type="http://schemas.openxmlformats.org/officeDocument/2006/relationships/slide" Target="slides/slide6.xml"/><Relationship Id="rId26" Type="http://schemas.openxmlformats.org/officeDocument/2006/relationships/slide" Target="slides/slide8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Позиций в плане (реальная улица)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Дерево</c:v>
                </c:pt>
                <c:pt idx="1">
                  <c:v>Кустарник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1496</c:v>
                </c:pt>
                <c:pt idx="1">
                  <c:v>25720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Время полного CLI-прогона, с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Sheet1!$A$2:$A$4</c:f>
              <c:strCache>
                <c:ptCount val="3"/>
                <c:pt idx="0">
                  <c:v>До фиксов</c:v>
                </c:pt>
                <c:pt idx="1">
                  <c:v>+ ExclusionIndex</c:v>
                </c:pt>
                <c:pt idx="2">
                  <c:v>+ бюджет плотности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1512</c:v>
                </c:pt>
                <c:pt idx="1">
                  <c:v>380</c:v>
                </c:pt>
                <c:pt idx="2">
                  <c:v>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Позиций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Lbls>
            <c:dLbl>
              <c:idx val="2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0AC9-4320-A20C-3707168A0262}"/>
                </c:ext>
              </c:extLst>
            </c:dLbl>
            <c:dLbl>
              <c:idx val="3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0AC9-4320-A20C-3707168A0262}"/>
                </c:ext>
              </c:extLst>
            </c:dLbl>
            <c:spPr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Рядом</c:v>
                </c:pt>
                <c:pt idx="1">
                  <c:v>Куртинами</c:v>
                </c:pt>
                <c:pt idx="2">
                  <c:v>Россыпью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23475</c:v>
                </c:pt>
                <c:pt idx="1">
                  <c:v>3580</c:v>
                </c:pt>
                <c:pt idx="2">
                  <c:v>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1.png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GreenProject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Автоматическое проектирование городского озеленения</a:t>
            </a:r>
            <a:endParaRPr lang="ru-RU" dirty="0"/>
          </a:p>
          <a:p>
            <a:pPr indent="268288"/>
            <a:r>
              <a:t>с учётом отступов от инженерных сетей</a:t>
            </a:r>
            <a:endParaRPr lang="ru-RU" dirty="0"/>
          </a:p>
          <a:p>
            <a:pPr indent="268288"/>
            <a:r>
              <a:t>ЛЦТ2026 · Департамент природопользования и охраны окружающей среды г. Москвы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rgbClr val="202020"/>
                </a:solidFill>
              </a:rPr>
              <a:t>По чертежу территории (сети, здания, зонирование) сервис сам предлагает план посадки деревьев/кустарников/газона, соблюдающий нормативные отступы, и экспортирует результат обратно в DXF с обоснованием каждой позиции.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rgbClr val="202020"/>
                </a:solidFill>
              </a:rPr>
              <a:t>Капитан: Тихон Малинин — бэкенд, инфраструктура, DevOps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rgbClr val="202020"/>
                </a:solidFill>
              </a:rPr>
              <a:t>Диана Мурашкина — ML и данные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rgbClr val="202020"/>
                </a:solidFill>
              </a:rPr>
              <a:t>Кол-во участников: 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rgbClr val="202020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rgbClr val="202020"/>
                </a:solidFill>
              </a:rPr>
              <a:t>Допустимость посадки — детерминированная проверка по нормативам с цитатой пункта акта на каждом объекте, не чёрный ящик. ML используется только для ранжирования уже допустимых мест — эта граница проведена на уровне архитектуры, а не на словах.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Роль: ML | Telegram: @dyanch1kk | Телефон: +7 950 254-21-44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Диана Мурашкина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Роль: бэкенд, алгоритм, инфраструктура, DevOps | Telegram: @rearzty | Телефон: +7 926 725-40-32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Тихон Малинин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Как мы дошли до решения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rgbClr val="202020"/>
                </a:solidFill>
              </a:rPr>
              <a:t>Разработка велась итеративно: синтетические территории до 15.09, затем полный аудит и доработка на 20 реальных улицах пилотного датасета Мосгеотреста.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rgbClr val="202020"/>
                </a:solidFill>
              </a:rPr>
              <a:t>Backend, алгоритм и инфраструктуру вёл Тихон Малинин, ML и данные — Диана Мурашкина.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rgbClr val="202020"/>
                </a:solidFill>
              </a:rPr>
              <a:t>Главный вызов — реальные DWG-чертежи ломали наивный парсинг: пунктирные сети, незамкнутые контуры зданий, ACIS-заливки, которые терял один из двух конвертеров DWG→DXF. Каждый случай найден и исправлен на живых данных, не гипотетически.</a:t>
            </a:r>
            <a:br>
              <a:rPr lang="ru-RU" b="1" dirty="0">
                <a:solidFill>
                  <a:schemeClr val="accent5"/>
                </a:solidFill>
              </a:rPr>
            </a:b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rgbClr val="202020"/>
                </a:solidFill>
              </a:rPr>
              <a:t>Вдохновило разделение «можно ли здесь» (детерминировано, цитируемо) и «где лучше» (скоринг) — прямой ответ на явный запрет ТЗ на чёрный ящик в вопросах безопасности.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rgbClr val="202020"/>
                </a:solidFill>
              </a:rPr>
              <a:t>Выбрали задачу с реальной ценой ошибки: посадка на теплотрассе или кабеле — не абстрактный баг, а физический риск для города.</a:t>
            </a:r>
            <a:br>
              <a:rPr lang="ru-RU" b="1" dirty="0">
                <a:solidFill>
                  <a:schemeClr val="accent5"/>
                </a:solidFill>
              </a:rPr>
            </a:b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rgbClr val="202020"/>
                </a:solidFill>
              </a:rPr>
              <a:t>Детерминированные буферы нормативных отступов (с поправкой по породе) → кандидаты по паттернам (ряд/куртина/россыпь) → скоринг (эвристика/ML) → жадный отбор → проверка и экспорт с XDATA-обоснованием на каждом объекте DXF.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rgbClr val="202020"/>
                </a:solidFill>
              </a:rPr>
              <a:t>Экспертам ДПиООС часы ручной сверки отступов по таблицам заменяются секундами автоматической проверки с готовой цитатой пункта акта; результат — тот же чертёж, а не новый формат для внедрения.</a:t>
            </a:r>
            <a:br>
              <a:rPr lang="ru-RU" sz="1400" dirty="0">
                <a:solidFill>
                  <a:schemeClr val="tx1"/>
                </a:solidFill>
              </a:rPr>
            </a:b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Допустимость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Детерминированная проверка отступов. Ни одного ML-решения в вопросе «можно ли здесь».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Ранжирование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Скоринг (эвристика или ML) — только среди уже допустимых мест.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Обоснование</a:t>
            </a:r>
            <a:endParaRPr lang="ru-RU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Цитата пункта акта на каждом объекте — в JSON, CSV и прямо в XDATA чертежа.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Три принципа против «чёрного ящика»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Архитектура: два независимых пакета + слой-склейка</a:t>
            </a:r>
            <a:endParaRPr lang="ru-RU" sz="2000" dirty="0">
              <a:solidFill>
                <a:schemeClr val="accent5"/>
              </a:solidFill>
            </a:endParaRPr>
          </a:p>
        </p:txBody>
      </p:sp>
      <p:pic>
        <p:nvPicPr>
          <p:cNvPr id="31" name="Picture 30" descr="architecture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33" y="1263123"/>
            <a:ext cx="5574868" cy="493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Импорт и очистка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DWG→DXF, классификация слоёв, сшивка сетей, замыкание контуров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Граница и отступы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territory_polygon + буфер отступов по породе (species-aware)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Кандидаты и паттерны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ряд вдоль улицы, куртины, россыпь, живая изгородь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Скоринг и отбор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Heuristic/ML ранжирование → жадный отбор без пересечений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Проверка и экспорт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цитата акта на объект → DXF + JSON + CSV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Алгоритм: 5 этапов одного пайплайна (CLI и backend)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report.json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Координаты, вид, порода, все проверенные отступы, какой сработал, ссылка на акт и пункт.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CSV-трассировка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Та же информация построчно «посадка × ограничение» — для проверки в Excel вручную.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XDATA в DXF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Та же цитата прямо на объекте чертежа — эксперт видит её, не выходя из CAD.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Три уровня, где живёт обоснование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>
                <a:solidFill>
                  <a:srgbClr val="202020"/>
                </a:solidFill>
              </a:rPr>
              <a:t>СП 42.13330.2016 + 743-ПП + МГСН 1.02-02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Базовые отступы (табл. 9.1), московские уточнения (школы/детсады, подошва откоса), поправка по породе для теплотрассы.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369-ПП (2026) — инвазивные виды исключены из ассортимента пород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515-ПП — официальный ассортимент кустарника (табл. 5 приложения)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ПУЭ гл. 2.4 — отступ от ЛЭП, сверено частично (см. ограничения)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Каждое значение — с обязательной ссылкой на источник, связность проверяется тестом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Нормативная база и трассируемость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2" name="Рисунок 1" descr="map_render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44" r="144"/>
          <a:stretch>
            <a:fillRect/>
          </a:stretch>
        </p:blipFill>
        <p:spPr/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>
                <a:solidFill>
                  <a:srgbClr val="202020"/>
                </a:solidFill>
              </a:rPr>
              <a:t>Зоны — здания, инженерные сети, зонирование, существующая зелень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>
                <a:solidFill>
                  <a:srgbClr val="202020"/>
                </a:solidFill>
              </a:rPr>
              <a:t>План — деревья/кустарники/газон, сгенерированные автоматически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>
                <a:solidFill>
                  <a:srgbClr val="202020"/>
                </a:solidFill>
              </a:rPr>
              <a:t>Индекс озеленения и правка по объектам — в реальном времени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Веб-интерфейс: план поверх исходных слоёв территории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>
                <a:solidFill>
                  <a:srgbClr val="202020"/>
                </a:solidFill>
              </a:rPr>
              <a:t>Реальный прогон CLI («17. Грузинская М ул»)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>
                <a:solidFill>
                  <a:srgbClr val="202020"/>
                </a:solidFill>
              </a:rPr>
              <a:t>Фрагмент report.json — цитата пункта акта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5" name="Рисунок 4" descr="panel_cli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9780" b="9780"/>
          <a:stretch>
            <a:fillRect/>
          </a:stretch>
        </p:blipFill>
        <p:spPr/>
      </p:pic>
      <p:pic>
        <p:nvPicPr>
          <p:cNvPr id="6" name="Рисунок 5" descr="panel_json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t="9780" b="9780"/>
          <a:stretch>
            <a:fillRect/>
          </a:stretch>
        </p:blipFill>
        <p:spPr/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От запуска в терминале до готового обоснования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До фиксов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1512 с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380 с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+ ExclusionIndex (индекс по границам, не по частям)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252 с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+ калиброванный бюджет плотности посадки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~6×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ускорение, «1. Олимпийская деревня», 9.24 га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Оптимизация: во сколько раз ускорился реальный прогон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позиций соответствуют нормативам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27216 / 27216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208 453 м²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площадь реальной улицы («13. Харьковский проезд»)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100%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объектов несут XDATA-обоснование на чертеже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Реальный масштаб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23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23 475 (86%)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Рядом вдоль улицы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Куртинами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3 580 (13%)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Россыпью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161 (1%)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«13. Харьковский проезд»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27 216 посадок всего</a:t>
            </a: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77612"/>
              </p:ext>
            </p:extLst>
          </p:nvPr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Реальная схема посадки — структура улицы, не «россыпь»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Ограничения и известные проблемы — честно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CRS реальных данных не подтверждена организаторами — на расчёт плана не влияет, только на отображение на карте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DWG без ODA (только LibreDWG) теряет заливку покрытия — борт всё равно защищает от посадки на асфальт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Отступ от ЛЭП сверен частично — консервативно завышен, не занижен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Двухрядная посадка и целенаправленные акценты — не реализованы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Один нечитаемый файл бандла может унести границу участка — CLI явно предупреждает об этом в выводе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Формат ввода/вывода — DXF, тот же, что использует департамент и проектные бюро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Результат — дополнительный слой поверх чертежа, не замена проектного решения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Шаг 1: проверочный/подсказывающий инструмент на этапе разработки решения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Шаг 2: сверка с экспертами по конкретным непроверенным цитатам (verified: false)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Шаг 3: автоматический первый фильтр при приёмке проектной документации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Путь внедрения в контур ДПиООС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Слой поверх чертежа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dxf_writer.write_dxf — копия исходника + слои GREEN_AI$*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Обоснование с цитатой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compliance.py + planting_norms.yaml — пункт и таблица акта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CLI без БД и сервера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scripts/plan_dxf.py — основной артефакт по приоритету ТЗ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Docker + Swagger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docker compose up --build → localhost:8000/docs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Соответствие обязательным пунктам ТЗ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prstGeom prst="roundRect">
            <a:avLst>
              <a:gd name="adj" fmla="val 6127"/>
            </a:avLst>
          </a:prstGeo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prstGeom prst="roundRect">
            <a:avLst>
              <a:gd name="adj" fmla="val 11783"/>
            </a:avLst>
          </a:prstGeo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prstGeom prst="roundRect">
            <a:avLst>
              <a:gd name="adj" fmla="val 7254"/>
            </a:avLst>
          </a:prstGeo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Фоновая задача для загрузки проекта в вебе (сейчас — синхронный запрос)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Двухрядная посадка и целенаправленные акценты (солитер / группа-акцент)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Ведомость элементов озеленения по ГОСТ 21.508-2020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Дообучение ML на реальных проектных решениях пилота (weak-labeling)</a:t>
            </a:r>
            <a:endParaRPr lang="ru-RU" dirty="0">
              <a:solidFill>
                <a:schemeClr val="tx1"/>
              </a:solidFill>
            </a:endParaRPr>
          </a:p>
          <a:p>
            <a:r>
              <a:rPr>
                <a:solidFill>
                  <a:srgbClr val="202020"/>
                </a:solidFill>
              </a:rPr>
              <a:t>Сверка главы 2.5 ПУЭ (ВЛ выше 1 кВ) с профильным актом об охранных зонах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</a:rPr>
              <a:t>Куда дальше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